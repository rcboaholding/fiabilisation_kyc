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</c:v>
                </c:pt>
              </c:strCache>
            </c:strRef>
          </c:tx>
          <c:dPt>
            <c:idx val="0"/>
            <c:spPr>
              <a:solidFill>
                <a:srgbClr val="F59E0B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70AD47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70AD47"/>
              </a:solidFill>
            </c:spPr>
          </c:dPt>
          <c:dPt>
            <c:idx val="7"/>
            <c:spPr>
              <a:solidFill>
                <a:srgbClr val="70AD47"/>
              </a:solidFill>
            </c:spPr>
          </c:dPt>
          <c:dPt>
            <c:idx val="8"/>
            <c:spPr>
              <a:solidFill>
                <a:srgbClr val="70AD47"/>
              </a:solidFill>
            </c:spPr>
          </c:dPt>
          <c:dPt>
            <c:idx val="9"/>
            <c:spPr>
              <a:solidFill>
                <a:srgbClr val="70AD47"/>
              </a:solidFill>
            </c:spPr>
          </c:dPt>
          <c:dPt>
            <c:idx val="10"/>
            <c:spPr>
              <a:solidFill>
                <a:srgbClr val="70AD47"/>
              </a:solidFill>
            </c:spPr>
          </c:dPt>
          <c:cat>
            <c:strRef>
              <c:f>Sheet1!$A$2:$A$12</c:f>
              <c:strCache>
                <c:ptCount val="11"/>
                <c:pt idx="0">
                  <c:v>Revenu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  <c:pt idx="4">
                  <c:v>NIN</c:v>
                </c:pt>
                <c:pt idx="5">
                  <c:v>Code agent économique</c:v>
                </c:pt>
                <c:pt idx="6">
                  <c:v>Date de naissance</c:v>
                </c:pt>
                <c:pt idx="7">
                  <c:v>Adresse</c:v>
                </c:pt>
                <c:pt idx="8">
                  <c:v>Date de validité CIN</c:v>
                </c:pt>
                <c:pt idx="9">
                  <c:v>Origine du revenu</c:v>
                </c:pt>
                <c:pt idx="10">
                  <c:v>Pays de résidence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93</c:v>
                </c:pt>
                <c:pt idx="1">
                  <c:v>98</c:v>
                </c:pt>
                <c:pt idx="2">
                  <c:v>98</c:v>
                </c:pt>
                <c:pt idx="3">
                  <c:v>99</c:v>
                </c:pt>
                <c:pt idx="4">
                  <c:v>99</c:v>
                </c:pt>
                <c:pt idx="5">
                  <c:v>99</c:v>
                </c:pt>
                <c:pt idx="6">
                  <c:v>99</c:v>
                </c:pt>
                <c:pt idx="7">
                  <c:v>99</c:v>
                </c:pt>
                <c:pt idx="8">
                  <c:v>99</c:v>
                </c:pt>
                <c:pt idx="9">
                  <c:v>99</c:v>
                </c:pt>
                <c:pt idx="10">
                  <c:v>99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80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D32F2F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70AD47"/>
              </a:solidFill>
            </c:spPr>
          </c:dPt>
          <c:dPt>
            <c:idx val="7"/>
            <c:spPr>
              <a:solidFill>
                <a:srgbClr val="70AD47"/>
              </a:solidFill>
            </c:spPr>
          </c:dPt>
          <c:cat>
            <c:strRef>
              <c:f>Sheet1!$A$2:$A$9</c:f>
              <c:strCache>
                <c:ptCount val="8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  <c:pt idx="4">
                  <c:v>Téléphone</c:v>
                </c:pt>
                <c:pt idx="5">
                  <c:v>Origine du revenu</c:v>
                </c:pt>
                <c:pt idx="6">
                  <c:v>Secteur d'activité</c:v>
                </c:pt>
                <c:pt idx="7">
                  <c:v>Code agent économique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</c:v>
                </c:pt>
                <c:pt idx="1">
                  <c:v>77</c:v>
                </c:pt>
                <c:pt idx="2">
                  <c:v>86</c:v>
                </c:pt>
                <c:pt idx="3">
                  <c:v>89</c:v>
                </c:pt>
                <c:pt idx="4">
                  <c:v>94</c:v>
                </c:pt>
                <c:pt idx="5">
                  <c:v>99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15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D32F2F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dPt>
            <c:idx val="5"/>
            <c:spPr>
              <a:solidFill>
                <a:srgbClr val="F59E0B"/>
              </a:solidFill>
            </c:spPr>
          </c:dPt>
          <c:dPt>
            <c:idx val="6"/>
            <c:spPr>
              <a:solidFill>
                <a:srgbClr val="F59E0B"/>
              </a:solidFill>
            </c:spPr>
          </c:dPt>
          <c:dPt>
            <c:idx val="7"/>
            <c:spPr>
              <a:solidFill>
                <a:srgbClr val="F59E0B"/>
              </a:solidFill>
            </c:spPr>
          </c:dPt>
          <c:dPt>
            <c:idx val="8"/>
            <c:spPr>
              <a:solidFill>
                <a:srgbClr val="F59E0B"/>
              </a:solidFill>
            </c:spPr>
          </c:dPt>
          <c:dPt>
            <c:idx val="9"/>
            <c:spPr>
              <a:solidFill>
                <a:srgbClr val="F59E0B"/>
              </a:solidFill>
            </c:spPr>
          </c:dPt>
          <c:dPt>
            <c:idx val="10"/>
            <c:spPr>
              <a:solidFill>
                <a:srgbClr val="F59E0B"/>
              </a:solidFill>
            </c:spPr>
          </c:dPt>
          <c:dPt>
            <c:idx val="11"/>
            <c:spPr>
              <a:solidFill>
                <a:srgbClr val="F59E0B"/>
              </a:solidFill>
            </c:spPr>
          </c:dPt>
          <c:cat>
            <c:strRef>
              <c:f>Sheet1!$A$2:$A$13</c:f>
              <c:strCache>
                <c:ptCount val="12"/>
                <c:pt idx="0">
                  <c:v>ELITE</c:v>
                </c:pt>
                <c:pt idx="1">
                  <c:v>PARCELLES ASSA</c:v>
                </c:pt>
                <c:pt idx="2">
                  <c:v>CENTRALE DAKAR</c:v>
                </c:pt>
                <c:pt idx="3">
                  <c:v>INDEPENDANCE</c:v>
                </c:pt>
                <c:pt idx="4">
                  <c:v>CAF ZONE INDUS</c:v>
                </c:pt>
                <c:pt idx="5">
                  <c:v>MERMOZ</c:v>
                </c:pt>
                <c:pt idx="6">
                  <c:v>GRAND YOFF</c:v>
                </c:pt>
                <c:pt idx="7">
                  <c:v>KAOLACK</c:v>
                </c:pt>
                <c:pt idx="8">
                  <c:v>SATELLITE HLM </c:v>
                </c:pt>
                <c:pt idx="9">
                  <c:v>SATELLITE PIKI</c:v>
                </c:pt>
                <c:pt idx="10">
                  <c:v>MALICK SY</c:v>
                </c:pt>
                <c:pt idx="11">
                  <c:v>YOFF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71</c:v>
                </c:pt>
                <c:pt idx="1">
                  <c:v>73</c:v>
                </c:pt>
                <c:pt idx="2">
                  <c:v>75</c:v>
                </c:pt>
                <c:pt idx="3">
                  <c:v>75</c:v>
                </c:pt>
                <c:pt idx="4">
                  <c:v>76</c:v>
                </c:pt>
                <c:pt idx="5">
                  <c:v>77</c:v>
                </c:pt>
                <c:pt idx="6">
                  <c:v>78</c:v>
                </c:pt>
                <c:pt idx="7">
                  <c:v>78</c:v>
                </c:pt>
                <c:pt idx="8">
                  <c:v>79</c:v>
                </c:pt>
                <c:pt idx="9">
                  <c:v>79</c:v>
                </c:pt>
                <c:pt idx="10">
                  <c:v>80</c:v>
                </c:pt>
                <c:pt idx="11">
                  <c:v>81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Anomalies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D32F2F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cat>
            <c:strRef>
              <c:f>Sheet1!$A$2:$A$6</c:f>
              <c:strCache>
                <c:ptCount val="5"/>
                <c:pt idx="0">
                  <c:v>Date de révision KYC</c:v>
                </c:pt>
                <c:pt idx="1">
                  <c:v>Document d'identité </c:v>
                </c:pt>
                <c:pt idx="2">
                  <c:v>Mineur de plus de 21</c:v>
                </c:pt>
                <c:pt idx="3">
                  <c:v>Numéro d'identificat</c:v>
                </c:pt>
                <c:pt idx="4">
                  <c:v>Format téléphone inv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173513</c:v>
                </c:pt>
                <c:pt idx="1">
                  <c:v>77084</c:v>
                </c:pt>
                <c:pt idx="2">
                  <c:v>26267</c:v>
                </c:pt>
                <c:pt idx="3">
                  <c:v>10472</c:v>
                </c:pt>
                <c:pt idx="4">
                  <c:v>8971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Anomalies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D32F2F"/>
              </a:solidFill>
            </c:spPr>
          </c:dPt>
          <c:dPt>
            <c:idx val="2"/>
            <c:spPr>
              <a:solidFill>
                <a:srgbClr val="D32F2F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cat>
            <c:strRef>
              <c:f>Sheet1!$A$2:$A$6</c:f>
              <c:strCache>
                <c:ptCount val="5"/>
                <c:pt idx="0">
                  <c:v>Société avec capital</c:v>
                </c:pt>
                <c:pt idx="1">
                  <c:v>CA positif mais résu</c:v>
                </c:pt>
                <c:pt idx="2">
                  <c:v>RCS renseigné mais s</c:v>
                </c:pt>
                <c:pt idx="3">
                  <c:v>Numéro RCS trop cour</c:v>
                </c:pt>
                <c:pt idx="4">
                  <c:v>Capital social nul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9353</c:v>
                </c:pt>
                <c:pt idx="1">
                  <c:v>8681</c:v>
                </c:pt>
                <c:pt idx="2">
                  <c:v>3736</c:v>
                </c:pt>
                <c:pt idx="3">
                  <c:v>1881</c:v>
                </c:pt>
                <c:pt idx="4">
                  <c:v>1855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Entreprises</c:v>
                </c:pt>
              </c:strCache>
            </c:strRef>
          </c:tx>
          <c:spPr>
            <a:solidFill>
              <a:srgbClr val="009A56"/>
            </a:solidFill>
          </c:spPr>
          <c:cat>
            <c:strRef>
              <c:f>Sheet1!$A$2:$A$7</c:f>
              <c:strCache>
                <c:ptCount val="6"/>
                <c:pt idx="0">
                  <c:v>EUR</c:v>
                </c:pt>
                <c:pt idx="1">
                  <c:v>USD</c:v>
                </c:pt>
                <c:pt idx="2">
                  <c:v>GBP</c:v>
                </c:pt>
                <c:pt idx="3">
                  <c:v>ATS</c:v>
                </c:pt>
                <c:pt idx="4">
                  <c:v>FRF</c:v>
                </c:pt>
                <c:pt idx="5">
                  <c:v>CAD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</c:v>
                </c:pt>
                <c:pt idx="1">
                  <c:v>206</c:v>
                </c:pt>
                <c:pt idx="2">
                  <c:v>8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Particuliers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Sheet1!$A$2:$A$7</c:f>
              <c:strCache>
                <c:ptCount val="6"/>
                <c:pt idx="0">
                  <c:v>EUR</c:v>
                </c:pt>
                <c:pt idx="1">
                  <c:v>USD</c:v>
                </c:pt>
                <c:pt idx="2">
                  <c:v>GBP</c:v>
                </c:pt>
                <c:pt idx="3">
                  <c:v>ATS</c:v>
                </c:pt>
                <c:pt idx="4">
                  <c:v>FRF</c:v>
                </c:pt>
                <c:pt idx="5">
                  <c:v>CAD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459</c:v>
                </c:pt>
                <c:pt idx="1">
                  <c:v>148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/>
          </a:pPr>
        </a:p>
      </c:txPr>
    </c:legend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Global</c:v>
                </c:pt>
              </c:strCache>
            </c:strRef>
          </c:tx>
          <c:spPr>
            <a:solidFill>
              <a:srgbClr val="666666"/>
            </a:solidFill>
          </c:spPr>
          <c:cat>
            <c:strRef>
              <c:f>Sheet1!$A$2:$A$5</c:f>
              <c:strCache>
                <c:ptCount val="4"/>
                <c:pt idx="0">
                  <c:v>Revenu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</c:v>
                </c:pt>
                <c:pt idx="1">
                  <c:v>98</c:v>
                </c:pt>
                <c:pt idx="2">
                  <c:v>98</c:v>
                </c:pt>
                <c:pt idx="3">
                  <c:v>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PPE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Sheet1!$A$2:$A$5</c:f>
              <c:strCache>
                <c:ptCount val="4"/>
                <c:pt idx="0">
                  <c:v>Revenu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97</c:v>
                </c:pt>
                <c:pt idx="1">
                  <c:v>98</c:v>
                </c:pt>
                <c:pt idx="2">
                  <c:v>98</c:v>
                </c:pt>
                <c:pt idx="3">
                  <c:v>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Devise étrangère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Sheet1!$A$2:$A$5</c:f>
              <c:strCache>
                <c:ptCount val="4"/>
                <c:pt idx="0">
                  <c:v>Revenu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71</c:v>
                </c:pt>
                <c:pt idx="1">
                  <c:v>75</c:v>
                </c:pt>
                <c:pt idx="2">
                  <c:v>76</c:v>
                </c:pt>
                <c:pt idx="3">
                  <c:v>100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Non-résidents</c:v>
                </c:pt>
              </c:strCache>
            </c:strRef>
          </c:tx>
          <c:spPr>
            <a:solidFill>
              <a:srgbClr val="D32F2F"/>
            </a:solidFill>
          </c:spPr>
          <c:cat>
            <c:strRef>
              <c:f>Sheet1!$A$2:$A$5</c:f>
              <c:strCache>
                <c:ptCount val="4"/>
                <c:pt idx="0">
                  <c:v>Revenu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48</c:v>
                </c:pt>
                <c:pt idx="1">
                  <c:v>93</c:v>
                </c:pt>
                <c:pt idx="2">
                  <c:v>97</c:v>
                </c:pt>
                <c:pt idx="3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/>
          </a:pPr>
        </a:p>
      </c:txPr>
    </c:legend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Global</c:v>
                </c:pt>
              </c:strCache>
            </c:strRef>
          </c:tx>
          <c:spPr>
            <a:solidFill>
              <a:srgbClr val="666666"/>
            </a:solidFill>
          </c:spPr>
          <c:cat>
            <c:strRef>
              <c:f>Sheet1!$A$2:$A$5</c:f>
              <c:strCache>
                <c:ptCount val="4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</c:v>
                </c:pt>
                <c:pt idx="1">
                  <c:v>77</c:v>
                </c:pt>
                <c:pt idx="2">
                  <c:v>86</c:v>
                </c:pt>
                <c:pt idx="3">
                  <c:v>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Devise étrangère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Sheet1!$A$2:$A$5</c:f>
              <c:strCache>
                <c:ptCount val="4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72</c:v>
                </c:pt>
                <c:pt idx="2">
                  <c:v>83</c:v>
                </c:pt>
                <c:pt idx="3">
                  <c:v>79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Non-résidents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Sheet1!$A$2:$A$5</c:f>
              <c:strCache>
                <c:ptCount val="4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92</c:v>
                </c:pt>
                <c:pt idx="2">
                  <c:v>88</c:v>
                </c:pt>
                <c:pt idx="3">
                  <c:v>95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/>
          </a:pPr>
        </a:p>
      </c:txPr>
    </c:legend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70AD47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09A56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F59E0B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32F2F"/>
              </a:solidFill>
              <a:ln w="1270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666666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Faible</c:v>
                </c:pt>
                <c:pt idx="1">
                  <c:v>Moyen faible</c:v>
                </c:pt>
                <c:pt idx="2">
                  <c:v>Moyen élevé</c:v>
                </c:pt>
                <c:pt idx="3">
                  <c:v>Élevé</c:v>
                </c:pt>
                <c:pt idx="4">
                  <c:v>Non noté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365822</c:v>
                </c:pt>
                <c:pt idx="2">
                  <c:v>2386</c:v>
                </c:pt>
                <c:pt idx="3">
                  <c:v>3024</c:v>
                </c:pt>
                <c:pt idx="4">
                  <c:v>48</c:v>
                </c:pt>
              </c:numCache>
            </c:numRef>
          </c:val>
        </c:ser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650"/>
          </a:pPr>
        </a:p>
      </c:txPr>
    </c:legend>
    <c:plotVisOnly val="1"/>
    <c:dispBlanksAs val="gap"/>
    <c:showDLblsOverMax val="0"/>
  </c:chart>
  <c:txPr>
    <a:bodyPr/>
    <a:lstStyle/>
    <a:p>
      <a:pPr>
        <a:defRPr sz="650">
          <a:latin typeface="Calibri"/>
        </a:defRPr>
      </a:pPr>
      <a:endParaRPr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70AD47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09A56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F59E0B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32F2F"/>
              </a:solidFill>
              <a:ln w="1270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666666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Faible</c:v>
                </c:pt>
                <c:pt idx="1">
                  <c:v>Moyen faible</c:v>
                </c:pt>
                <c:pt idx="2">
                  <c:v>Moyen élevé</c:v>
                </c:pt>
                <c:pt idx="3">
                  <c:v>Élevé</c:v>
                </c:pt>
                <c:pt idx="4">
                  <c:v>Non noté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</c:v>
                </c:pt>
                <c:pt idx="1">
                  <c:v>12705</c:v>
                </c:pt>
                <c:pt idx="2">
                  <c:v>2134</c:v>
                </c:pt>
                <c:pt idx="3">
                  <c:v>367</c:v>
                </c:pt>
                <c:pt idx="4">
                  <c:v>6</c:v>
                </c:pt>
              </c:numCache>
            </c:numRef>
          </c:val>
        </c:ser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650"/>
          </a:pPr>
        </a:p>
      </c:txPr>
    </c:legend>
    <c:plotVisOnly val="1"/>
    <c:dispBlanksAs val="gap"/>
    <c:showDLblsOverMax val="0"/>
  </c:chart>
  <c:txPr>
    <a:bodyPr/>
    <a:lstStyle/>
    <a:p>
      <a:pPr>
        <a:defRPr sz="650">
          <a:latin typeface="Calibri"/>
        </a:defRPr>
      </a:pPr>
      <a:endParaRPr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Particuliers</c:v>
                </c:pt>
              </c:strCache>
            </c:strRef>
          </c:tx>
          <c:spPr>
            <a:solidFill>
              <a:srgbClr val="009A56"/>
            </a:solidFill>
          </c:spPr>
          <c:cat>
            <c:strRef>
              <c:f>Sheet1!$A$2:$A$8</c:f>
              <c:strCache>
                <c:ptCount val="7"/>
                <c:pt idx="0">
                  <c:v>Échue</c:v>
                </c:pt>
                <c:pt idx="1">
                  <c:v>Non renseignée</c:v>
                </c:pt>
                <c:pt idx="2">
                  <c:v>&lt; 3 mois</c:v>
                </c:pt>
                <c:pt idx="3">
                  <c:v>3–6 mois</c:v>
                </c:pt>
                <c:pt idx="4">
                  <c:v>6–12 mois</c:v>
                </c:pt>
                <c:pt idx="5">
                  <c:v>&gt; 12 mois</c:v>
                </c:pt>
                <c:pt idx="6">
                  <c:v>Format invalide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173513</c:v>
                </c:pt>
                <c:pt idx="1">
                  <c:v>31020</c:v>
                </c:pt>
                <c:pt idx="2">
                  <c:v>45596</c:v>
                </c:pt>
                <c:pt idx="3">
                  <c:v>19026</c:v>
                </c:pt>
                <c:pt idx="4">
                  <c:v>20352</c:v>
                </c:pt>
                <c:pt idx="5">
                  <c:v>81787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Entreprises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Sheet1!$A$2:$A$8</c:f>
              <c:strCache>
                <c:ptCount val="7"/>
                <c:pt idx="0">
                  <c:v>Échue</c:v>
                </c:pt>
                <c:pt idx="1">
                  <c:v>Non renseignée</c:v>
                </c:pt>
                <c:pt idx="2">
                  <c:v>&lt; 3 mois</c:v>
                </c:pt>
                <c:pt idx="3">
                  <c:v>3–6 mois</c:v>
                </c:pt>
                <c:pt idx="4">
                  <c:v>6–12 mois</c:v>
                </c:pt>
                <c:pt idx="5">
                  <c:v>&gt; 12 mois</c:v>
                </c:pt>
                <c:pt idx="6">
                  <c:v>Format invalide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262</c:v>
                </c:pt>
                <c:pt idx="1">
                  <c:v>10131</c:v>
                </c:pt>
                <c:pt idx="2">
                  <c:v>89</c:v>
                </c:pt>
                <c:pt idx="3">
                  <c:v>205</c:v>
                </c:pt>
                <c:pt idx="4">
                  <c:v>231</c:v>
                </c:pt>
                <c:pt idx="5">
                  <c:v>4353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/>
          </a:pPr>
        </a:p>
      </c:txPr>
    </c:legend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00C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00C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77240"/>
            <a:ext cx="667512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RAPPORT D'AUDIT</a:t>
            </a:r>
          </a:p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COMPLÉTUDE ET QUALITÉ DES DONNÉES KYC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8F0D8"/>
                </a:solidFill>
                <a:latin typeface="Calibri"/>
              </a:rPr>
              <a:t>BOA SN — Sénégal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07792"/>
            <a:ext cx="50292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12724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4F5E4"/>
                </a:solidFill>
                <a:latin typeface="Calibri"/>
              </a:rPr>
              <a:t>Stock au 8 septembre 2026  |  371 294 particuliers  |  15 272 entreprises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0D4B8"/>
                </a:solidFill>
                <a:latin typeface="Calibri"/>
              </a:rPr>
              <a:t>Conformité BOA Group | Fiabilisation KYC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5029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009A56"/>
                </a:solidFill>
                <a:latin typeface="Calibri"/>
              </a:rPr>
              <a:t>SOMMAIRE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2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00200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Périmètre et méthodologie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67128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67128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Complétude des données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24328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807208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34056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34056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Qualité des données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91256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374136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00984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300984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PPE, comptes en devise et non-résidents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58184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41064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67912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867912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Revue Scoring AML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25112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507992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434840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VI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434840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Synthèse et plan d'action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92040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I.  PÉRIMÈTRE ET MÉTHODOLOGIE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BASE DE L'AUDIT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9A56"/>
                </a:solidFill>
                <a:latin typeface="Calibri"/>
              </a:rPr>
              <a:t>371 294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particuliers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354 057 identifiants uniques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9A56"/>
                </a:solidFill>
                <a:latin typeface="Calibri"/>
              </a:rPr>
              <a:t>15 272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entreprises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15 272 identifiants uniques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Champs de complétude suivis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11 champs PP · 8 champs 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Règles qualité applicables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13 règles PP · 12 règles PM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MÉTHODES DE CALCUL APPLIQUÉES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411480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3624"/>
                <a:gridCol w="2551176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Complétude — Script_V3.r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Définition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Taux par champ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floor(100 − vides / effectif × 100)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Taux global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floor(100 × (1 − vides / (champs × effectif)))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Valeur « vide »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chaîne vide après nettoyage des espaces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Appréciation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Faible &lt; 80 % · Moyen 80–99 % · Bon = 100 %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663440" y="2395728"/>
          <a:ext cx="411480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3624"/>
                <a:gridCol w="2551176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Qualité — plateforme KYC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Définition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Référentiel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25 règles, 25 applicables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Combinaison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forme normale disjonctive (OU ouvre un groupe)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Taux qualité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Σ conformes / Σ évaluations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Date de référence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 septembre 2026 (opérateurs expired / age_gt)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365760" y="3950208"/>
            <a:ext cx="8412480" cy="877824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950208"/>
            <a:ext cx="45720" cy="8778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4023360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Réserves méthodologiques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" y="4261104"/>
            <a:ext cx="81564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Les exports pp/pm_STOCK sont produits par Script_V3.r : clients déjà regroupés par identifiant et clients non fiabilisables (code OI) déjà exclus.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La devise locale ayant été vidée par le script R, tout compte à devise renseignée est traité comme compte en devise étrangère.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Champs absents de l'export entreprises : PPE — les règles associées sont inévaluables.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I.  PÉRIMÈTRE ET MÉTHODOLOGIE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SYNTHÈSE EXÉCUTIVE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70AD47"/>
                </a:solidFill>
                <a:latin typeface="Calibri"/>
              </a:rPr>
              <a:t>99 %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Complétude particuliers (par champ)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11 champs · 91.6 % de clients complets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84 %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Complétude entreprises (par champ)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8 champs · 26.6 % de clients complets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93.8 %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Qualité particuliers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213 174 clients en anomalie (57.4 %)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85.1 %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Qualité entreprises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14 757 clients en anomalie (96.6 %)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1993392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1993392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2103120"/>
            <a:ext cx="256032" cy="25603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1031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2103120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32F2F"/>
                </a:solidFill>
                <a:latin typeface="Calibri"/>
              </a:rPr>
              <a:t>Complétude affichée et information exploitable divergent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2688336"/>
            <a:ext cx="18288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Origine du revenu : 81.8 % des particuliers portent « Non communiquée », comptée comme renseignée.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Côté entreprises, la proportion atteint 74.3 %.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Le champ le plus faible reste Revenu (93 %).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87168" y="1993392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87168" y="1993392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78608" y="2103120"/>
            <a:ext cx="256032" cy="25603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78608" y="21031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7791" y="2103120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32F2F"/>
                </a:solidFill>
                <a:latin typeface="Calibri"/>
              </a:rPr>
              <a:t>Le bloc financier entreprises est peu alimenté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96896" y="2688336"/>
            <a:ext cx="18288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Résultat net : 27 % de complétude (11 121 dossiers vides).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Capital social 77 % · Chiffre d'affaires 86 % · Numéro de registre de commerce 89 %.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Seuls 26.6 % des clients entreprises sont intégralement renseignés.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08576" y="1993392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08576" y="1993392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0016" y="2103120"/>
            <a:ext cx="256032" cy="25603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00016" y="21031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2103120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32F2F"/>
                </a:solidFill>
                <a:latin typeface="Calibri"/>
              </a:rPr>
              <a:t>La revue scoring présente des défaillances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18304" y="2688336"/>
            <a:ext cx="18288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55.1 % des particuliers ont une date de revue scoring échue ou absente (204 533 clients).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68.1 % côté entreprises (10 394 sociétés).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219 clients à risque élevé sont concernés, soit 7.2 % des clients de cette catégorie.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9983" y="1993392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29983" y="1993392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21423" y="2103120"/>
            <a:ext cx="256032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21423" y="21031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50607" y="2103120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Calibri"/>
              </a:rPr>
              <a:t>Les segments sensibles concentrent les écarts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9712" y="2688336"/>
            <a:ext cx="18288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Non-résidents : complétude 94 % et qualité 81.1 % (global 99 % / 93.8 %).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489 entreprises en devise étrangère (3.2 % du portefeuille).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Périmètre sensible consolidé : 3 715 particuliers.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4553712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Calibri"/>
              </a:rPr>
              <a:t>Les taux de complétude affichés sont des taux par champ (cellules renseignées / cellules attendues) ; la part de clients complets compte les clients sans aucun champ vide. Qualité : moteur de règles de la plateforme KYC restreint aux règles applicables à la filiale.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PARTICULIERS — 11 CHAMPS DU RÉFÉRENTIEL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743200" cy="457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70AD47"/>
                </a:solidFill>
                <a:latin typeface="Calibri"/>
              </a:rPr>
              <a:t>99 %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complétude par champ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Appréciation : Moyen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115568"/>
            <a:ext cx="2743200" cy="457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70AD47"/>
                </a:solidFill>
                <a:latin typeface="Calibri"/>
              </a:rPr>
              <a:t>91.6 %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intégralement renseignés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340 268 sur 371 294 clients à fiabiliser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1115568"/>
            <a:ext cx="2743200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11 / 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Champs sous les 100 %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37 556 cellules vides au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956816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Taux de complétude par champ (%)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365760" y="2157984"/>
          <a:ext cx="4937760" cy="26700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486400" y="1956816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Champs ayant le taux de complétude le plus faible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486400" y="2157984"/>
          <a:ext cx="3291838" cy="20299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11756"/>
                <a:gridCol w="724204"/>
                <a:gridCol w="855878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 incomplet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 de complétude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Cellules vides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Revenu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93 %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24 670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Profession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5 332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Téléphone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5 856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Lieu de naissance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NIN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Code agent économique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308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Date de naissance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Adresse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211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5486400" y="4315968"/>
            <a:ext cx="3291840" cy="548640"/>
          </a:xfrm>
          <a:prstGeom prst="rect">
            <a:avLst/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0" y="4315968"/>
            <a:ext cx="45720" cy="548640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2704" y="4389120"/>
            <a:ext cx="3035808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Champ le plus en retrait : Revenu (93 %, 24 670 vides).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91.6 % des clients à fiabiliser ne présentent aucun champ vide (340 268 sur 371 294).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ENTREPRISES — 8 CHAMPS DU RÉFÉRENTIEL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84 %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complétude par champ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Appréciation : Moyen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115568"/>
            <a:ext cx="2743200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26.6 %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intégralement renseignés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4 059 sur 15 272 clients à fiabiliser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1115568"/>
            <a:ext cx="2743200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6 /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Champs sous les 100 %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19 074 cellules vides au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956816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Taux de complétude par champ (%)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365760" y="2157984"/>
          <a:ext cx="4937760" cy="26700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486400" y="1956816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Champs ayant le taux de complétude le plus faible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486400" y="2157984"/>
          <a:ext cx="3291838" cy="15819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11756"/>
                <a:gridCol w="724204"/>
                <a:gridCol w="855878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 incomplet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 de complétude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Cellules vides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Résultat net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27 %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11 121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Capital social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77 %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3 393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Chiffre d'affaires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86 %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2 028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Numéro de registre de commerce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89 %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1 618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Téléphone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94 %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908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Origine du revenu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5486400" y="3867911"/>
            <a:ext cx="3291840" cy="960120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0" y="3867911"/>
            <a:ext cx="45720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2704" y="3941063"/>
            <a:ext cx="3035808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Champ le plus en retrait : Résultat net (27 %, 11 121 vides).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Champs à 100 % : Secteur d'activité, Code agent économique.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26.6 % des clients à fiabiliser ne présentent aucun champ vide (4 059 sur 15 272).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RÉPARTITION DU TAUX DE COMPLÉTUDE PAR CHAMP, PAR AGENCE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115568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Particuliers — 9 agences les plus en retrait (taux par champ)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335024"/>
          <a:ext cx="4114800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3776"/>
                <a:gridCol w="2057400"/>
                <a:gridCol w="740664"/>
                <a:gridCol w="82296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Agence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 par champ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CAF ZONE INDUSTRIELLE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87 %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DIASPORA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1 816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CAF VDN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ELITE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2 003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96 %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INDEPENDANCE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18 011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ZI PARTICULIER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6 512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LAMINE GUEYE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790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KEUR MASSAR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12 024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MERMOZ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11 588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663440" y="1115568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9 agences les plus en retrait (taux par champ)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663440" y="1335024"/>
          <a:ext cx="4114800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3776"/>
                <a:gridCol w="2057400"/>
                <a:gridCol w="740664"/>
                <a:gridCol w="82296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Agence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 par champ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SIEGE BOA - SENEGAL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62 %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ELITE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349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PARCELLES ASSAINIES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364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CENTRALE DAKAR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1 184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INDEPENDANCE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CAF ZONE INDUSTRIELLE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455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76 %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MERMOZ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GRAND YOFF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02001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KAOLACK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179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3566160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agences les plus faibles (effectif ≥ 100 clients)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365760" y="3767328"/>
          <a:ext cx="8412480" cy="10607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5760" y="3310128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Calibri"/>
              </a:rPr>
              <a:t>Particuliers : de 87 % (CAF ZONE INDUSTRIELLE) à 100 %.  Entreprises : de 62 % à 99 %, soit 37 points d'écart.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COMPLÉTUDE APPARENTE ET INFORMATION RÉELLEMENT EXPLOITABLE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8412480" cy="512064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45720" cy="512064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188720"/>
            <a:ext cx="81564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800" b="0" i="0">
                <a:solidFill>
                  <a:srgbClr val="333333"/>
                </a:solidFill>
                <a:latin typeface="Calibri"/>
              </a:rPr>
              <a:t>•  Le taux de complétude mesure la présence d'une valeur, pas sa portée informative : les valeurs par défaut et les champs jamais alimentés élèvent mécaniquement les taux affichés.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7556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VALEURS PAR DÉFAUT COMPTÉES COMME RENSEIGNÉES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11680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2139696"/>
          <a:ext cx="8412478" cy="7498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50745"/>
                <a:gridCol w="1261872"/>
                <a:gridCol w="1850745"/>
                <a:gridCol w="1093622"/>
                <a:gridCol w="1261872"/>
                <a:gridCol w="1093622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Typologie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Valeur dominante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Effectif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portefeuille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 affiché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Origine du revenu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303 721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81.8 %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Origine du revenu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11 353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74.3 %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5760" y="30358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CHAMPS PRÉSENTS DANS L'EXPORT MAIS NON ALIMENTÉS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91839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419856"/>
          <a:ext cx="8412478" cy="1115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7244"/>
                <a:gridCol w="1345996"/>
                <a:gridCol w="1682496"/>
                <a:gridCol w="3196742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Typologie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 de remplissage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Conséquence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Boîte postale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contrôle peu ou pas opérant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Lieu de délivrance CIN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1.0 %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contrôle peu ou pas opérant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Boîte postale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contrôle peu ou pas opérant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Actionnaire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7.1 %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contrôle peu ou pas opérant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III.  QUALITÉ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DISPOSITIF DE CONTRÔLE ET TAUX DE CONFORMITÉ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93.8 %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qualité particuliers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13 règles appliquées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85.1 %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qualité entreprises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12 règles appliquées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213 174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en anomalie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57.4 % du portefeuille · 299 344 anomalies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14 757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Entreprises en anomalie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96.6 % du portefeuille · 27 297 anomalies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RÈGLES PRODUISANT LE PLUS D'ANOMALIES, TOUTES TYPOLOGIES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8412479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33241"/>
                <a:gridCol w="1261872"/>
                <a:gridCol w="1177747"/>
                <a:gridCol w="1261872"/>
                <a:gridCol w="1177747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 de contrôle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Typologie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portefeuille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Conformité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(scoring)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173 513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46.7 %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53.3 %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77 084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20.8 %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79.2 %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Mineur de plus de 21 ans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26 267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7.1 %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92.9 %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Numéro d'identification nationale invalide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10 472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97.2 %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Société avec capital sans actionnaire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9 353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61.2 %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38.8 %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8 971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97.6 %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65760" y="4059936"/>
            <a:ext cx="8412480" cy="76809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059936"/>
            <a:ext cx="45720" cy="7680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" y="4133088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Précautions de lecture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" y="4370832"/>
            <a:ext cx="81564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Un client en anomalie n'est compté qu'une fois, quel que soit le nombre de règles déclenchées : ce compte est inférieur au total des anomalies.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Le taux agrégé dilue les écarts : une règle défaillante sur 40 % du portefeuille est compensée par les règles sans anomalie.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Règles inévaluables faute de champ dans l'export : « PPE non classe à risque élevé 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III.  QUALITÉ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PARTICULIERS — ANOMALIES DÉTECTÉES PAR RÈGLE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5257800" cy="30678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13432"/>
                <a:gridCol w="683514"/>
                <a:gridCol w="630936"/>
                <a:gridCol w="998982"/>
                <a:gridCol w="63093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 de contrôle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portef.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Conformité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(scoring)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173 513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46.7 %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151 (5.0 %)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53.3 %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77 084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20.8 %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126 (4.2 %)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79.2 %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Mineur de plus de 21 ans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26 267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136 (4.5 %)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92.9 %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Numéro d'identification nationale invalide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10 472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18 (0.6 %)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97.2 %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8 971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27 (0.9 %)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97.6 %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Client PP non-résident sans boîte postale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2 614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18 (0.6 %)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PP à risque élevé dont la date de revue du scoring AML a été dépassée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151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151 (5.0 %)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 avec risque 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126 (4.2 %)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Employé de banque sans salaire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119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Âge client supérieur à 100 ans (aberrant)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PPE déclarée sans risque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PPE sans origine des revenus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Revenus élevés sans origine déclarée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720" y="1133856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Règles les plus impactantes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715000" y="1353312"/>
          <a:ext cx="3063240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5715000" y="3154680"/>
            <a:ext cx="3063240" cy="1673352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0" y="3154680"/>
            <a:ext cx="45720" cy="167335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1304" y="3227832"/>
            <a:ext cx="280720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Constats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3465576"/>
            <a:ext cx="2807208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Date de révision KYC (scoring) expirée » : 173 513 clients, soit 46.7 %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Document d'identité expiré » : 77 084 clients, soit 20.8 %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Mineur de plus de 21 ans » : 26 267 clients, soit 7.1 % du portefeuille.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III.  QUALITÉ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ENTREPRISES — ANOMALIES DÉTECTÉES PAR RÈGLE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5257800" cy="28529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13432"/>
                <a:gridCol w="683514"/>
                <a:gridCol w="630936"/>
                <a:gridCol w="998982"/>
                <a:gridCol w="63093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 de contrôle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portef.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Conformité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Société avec capital sans actionnaire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9 353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61.2 %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211 (57.5 %)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38.8 %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 positif mais résultat vide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8 681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56.8 %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149 (40.6 %)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43.2 %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RCS renseigné mais sans numéro fiscal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3 736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24.5 %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88 (24.0 %)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75.5 %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Numéro RCS trop court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1 881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103 (28.1 %)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87.7 %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Capital social nul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1 855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47 (12.8 %)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87.9 %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1 395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9.1 %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62 (16.9 %)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90.9 %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Client PM faisant du chiffre d'affaires sans mandataire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270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 (2.5 %)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98.2 %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Client PM non-résident sans boîte postale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 (0.8 %)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PM à risque élevé dont la date de revue du scoring AML a été dépassée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37 (10.1 %)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Résultat sans CA renseigné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Client PM sans domaine d'activité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PPE non classe à risque élevé (inévaluable)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720" y="1133856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Règles les plus impactantes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715000" y="1353312"/>
          <a:ext cx="3063240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5715000" y="3154680"/>
            <a:ext cx="3063240" cy="1673352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0" y="3154680"/>
            <a:ext cx="45720" cy="167335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1304" y="3227832"/>
            <a:ext cx="280720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Constats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3465576"/>
            <a:ext cx="2807208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Société avec capital sans actionnaire » : 9 353 clients, soit 61.2 %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CA positif mais résultat vide » : 8 681 clients, soit 56.8 %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RCS renseigné mais sans numéro fiscal » : 3 736 clients, soit 24.5 %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Inévaluable faute de champ : « PPE non classe à risque élevé 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IV.  PPE, COMPTES EN DEVISE ET NON-RÉSIDENTS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CARTOGRAPHIE DES SEGMENTS SENSIBLES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501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PPE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0.13 % du portefeuille particuliers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1 121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Comptes en devise étrangère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632 PP · 489 PM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2 706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non-résidents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2 614 PP · 92 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4 285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Périmètre sensible consolidé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union des segments, sans double compte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POIDS DES SEGMENTS DANS CHAQUE PORTEFEUILLE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411480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4440"/>
                <a:gridCol w="493776"/>
                <a:gridCol w="452628"/>
                <a:gridCol w="781812"/>
                <a:gridCol w="493776"/>
                <a:gridCol w="658368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Clients PPE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0.13 %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501 (100.0 %)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champ absent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Comptes en devise étrangère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632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0.17 %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29 (4.6 %)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489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11 (2.2 %)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Clients non-résidents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2 614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18 (0.7 %)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 (3.3 %)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Périmètre sensible consolidé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3 715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542 (14.6 %)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570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14 (2.5 %)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663440" y="2377440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Devises étrangères rencontrées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4663440" y="2596896"/>
          <a:ext cx="4114800" cy="1280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6" name="Rectangle 35"/>
          <p:cNvSpPr/>
          <p:nvPr/>
        </p:nvSpPr>
        <p:spPr>
          <a:xfrm>
            <a:off x="365760" y="3895344"/>
            <a:ext cx="8412480" cy="9326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3895344"/>
            <a:ext cx="45720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3968496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Croisements entre segments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4206240"/>
            <a:ext cx="8156448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Non-résident et devise étrangère : 26 PP · 11 PM.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Risque élevé et non-résident : 18 PP · 3 PM.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Risque élevé et devise étrangère : 29 PP · 11 PM.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PPE et non-résident : 5 PP · — PM (champ absent).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PPE et devise étrangère : 1 PP · — PM (champ absent).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IV.  PPE, COMPTES EN DEVISE ET NON-RÉSIDENTS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COMPLÉTUDE COMPARÉE DES SEGMENTS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8" cy="1389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45986"/>
                <a:gridCol w="872993"/>
                <a:gridCol w="1111082"/>
                <a:gridCol w="1349171"/>
                <a:gridCol w="872993"/>
                <a:gridCol w="1111082"/>
                <a:gridCol w="1349171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Complétude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PP / portefeuille global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Complétude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PM / portefeuille global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Portefeuille global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371 294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15 272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PPE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501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+0 pt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Comptes en devise étrangère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632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-8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-5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non-résidents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2 614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-5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-3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2615184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Particuliers — champs les plus faibles, par segment (%)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65760" y="2816352"/>
          <a:ext cx="4114800" cy="1956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663440" y="2615184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champs les plus faibles, par segment (%)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663440" y="2816352"/>
          <a:ext cx="4114800" cy="1956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IV.  PPE, COMPTES EN DEVISE ET NON-RÉSIDENTS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QUALITÉ ET ANOMALIES DES SEGMENTS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8" cy="1389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45986"/>
                <a:gridCol w="872993"/>
                <a:gridCol w="1111082"/>
                <a:gridCol w="1349171"/>
                <a:gridCol w="872993"/>
                <a:gridCol w="1111082"/>
                <a:gridCol w="1349171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Qualité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PP / portefeuille global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Qualité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PM / portefeuille global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Portefeuille global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371 294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93.8 %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15 272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85.1 %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PPE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501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96.9 %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+3.1 pt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Comptes en devise étrangère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632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89.3 %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-4.5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83.6 %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-1.5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non-résidents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2 614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81.1 %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-12.7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68.7 %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-16.4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26151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Non-résidents PP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2816352"/>
          <a:ext cx="2697478" cy="1293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4538"/>
                <a:gridCol w="566470"/>
                <a:gridCol w="56647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Client PP non-résident sans boîte 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2 614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1 749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66.9 %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(scoring) exp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1 671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63.9 %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Mineur de plus de 21 ans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00400" y="26151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Devise étrangère PP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0" y="2816352"/>
          <a:ext cx="2697478" cy="1293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4538"/>
                <a:gridCol w="566470"/>
                <a:gridCol w="56647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430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68.0 %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26.7 %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(scoring) exp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161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25.5 %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Numéro d'identification nationale 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Client PP non-résident sans boîte 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035040" y="26151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Devise étrangère PM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35040" y="2816352"/>
          <a:ext cx="2697478" cy="1293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4538"/>
                <a:gridCol w="566470"/>
                <a:gridCol w="56647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CA positif mais résultat vide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338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69.1 %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Société avec capital sans actionna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231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47.2 %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RCS renseigné mais sans numéro fis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27.8 %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Numéro RCS trop court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22.9 %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20.4 %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365760" y="4096512"/>
            <a:ext cx="8412480" cy="731520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96512"/>
            <a:ext cx="45720" cy="7315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4169664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Constats sur le périmètre sensible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4407408"/>
            <a:ext cx="815644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Non-résidents particuliers : qualité 81.1 % contre 93.8 % en global.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Entreprises en devise étrangère : complétude 79 % et qualité 83.6 %.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PPE particuliers : 501 clients, dont 0 sans classement en risque élevé.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CARTOGRAPHIE DU RISQUE CLIENT (CHAMP RISQUE)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3 024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à risque élevé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0.8 % du portefeuille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367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Entreprises à risque élevé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2.4 % du portefeuille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365 822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en « moyen faible 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98.5 % — concentration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sans notation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48 PP · 6 PM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993392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2A4A"/>
                </a:solidFill>
                <a:latin typeface="Calibri"/>
              </a:rPr>
              <a:t>Particuliers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365760" y="2194560"/>
          <a:ext cx="274320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91840" y="1993392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2A4A"/>
                </a:solidFill>
                <a:latin typeface="Calibri"/>
              </a:rPr>
              <a:t>Entreprises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3200400" y="2194560"/>
          <a:ext cx="2743200" cy="2331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172200" y="1993392"/>
            <a:ext cx="2606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Effectifs par niveau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172200" y="2194560"/>
          <a:ext cx="2606038" cy="1426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81812"/>
                <a:gridCol w="469087"/>
                <a:gridCol w="443026"/>
                <a:gridCol w="469087"/>
                <a:gridCol w="443026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Moyen faible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365 822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98.5 %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12 705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83.2 %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Moyen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2 386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2 134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14.0 %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3 024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367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Non noté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6172200" y="3749039"/>
            <a:ext cx="2606040" cy="107899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3749039"/>
            <a:ext cx="45720" cy="10789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18504" y="3822191"/>
            <a:ext cx="2350008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98.5 % des particuliers relèvent d'un seul niveau : la segmentation discrimine peu.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54 clients restent sans notation de risque.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ÉTAT DES ÉCHÉANCES DE REVUE SCORING (CHAMP DATREV)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55.1 %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avec date de revue scoring échue ou absente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204 533 clients : échue, absente ou invalide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68.1 %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Entreprises avec date de revue scoring échue ou absente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10 394 sociétés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173 513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Revues scoring particuliers échues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46.7 % du portefeuille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10 131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Date de revue scoring entreprises absente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66.3 % du portefeuille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1993392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Répartition des échéances de revue scoring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365760" y="2194560"/>
          <a:ext cx="5120640" cy="17190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669280" y="1993392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Détail des statuts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669280" y="2194560"/>
          <a:ext cx="3108958" cy="18059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57046"/>
                <a:gridCol w="528523"/>
                <a:gridCol w="497433"/>
                <a:gridCol w="528523"/>
                <a:gridCol w="497433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Statut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Échue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173 513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46.7 %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262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Non renseignée *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31 020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10 131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66.3 %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&lt; 3 mois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45 596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12.3 %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3–6 mois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19 026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5.1 %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205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6–12 mois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20 352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231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&gt; 12 mois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81 787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22.0 %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4 353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28.5 %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Format invalide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365760" y="4059936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Ancienneté des revues scoring échues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65760" y="4261104"/>
          <a:ext cx="5120639" cy="6766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33779"/>
                <a:gridCol w="921715"/>
                <a:gridCol w="921715"/>
                <a:gridCol w="921715"/>
                <a:gridCol w="921715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Retard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&lt; 6 mois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6 à 12 mois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1 à 2 ans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&gt; 2 ans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136 775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35 982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432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198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365760" y="4974336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Calibri"/>
              </a:rPr>
              <a:t>* « Non renseignée » inclut des clients dont le scoring est en cours.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CROISEMENT RISQUE ET ÉCHÉANCE — ZONE CRITIQUE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13385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Particuliers — état de la revue scoring par niveau de risque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335024"/>
          <a:ext cx="8412477" cy="13807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82496"/>
                <a:gridCol w="1009497"/>
                <a:gridCol w="1430121"/>
                <a:gridCol w="1598371"/>
                <a:gridCol w="1766620"/>
                <a:gridCol w="92537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Niveau de risque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Effectif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 avec date de revue échue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 avec date de revue non renseignée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Total (date de revue scoring échue ou absente)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faible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365 822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172 461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30 212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202 673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55.4 %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2 386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678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1 579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66.2 %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3 024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151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219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Non noté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5760" y="2843784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état de la revue scoring par niveau de risque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3044952"/>
          <a:ext cx="8412477" cy="13807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82496"/>
                <a:gridCol w="1009497"/>
                <a:gridCol w="1430121"/>
                <a:gridCol w="1598371"/>
                <a:gridCol w="1766620"/>
                <a:gridCol w="92537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Niveau de risque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Effectif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 avec date de revue échue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 avec date de revue non renseignée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Total (date de revue scoring échue ou absente)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faible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12 705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191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7 916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8 107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63.8 %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2 134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1 931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1 965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92.1 %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367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277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314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85.6 %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Non noté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365760" y="4553712"/>
            <a:ext cx="8412480" cy="566928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553712"/>
            <a:ext cx="45720" cy="566928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4626864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Zone critique — risque élevé avec date de revue scoring échue ou absente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4864607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Particuliers : 219 clients à risque élevé sur 3 024 (7.2 %) ont une date de revue scoring échue ou absente — 151 échues, 68 absentes.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Entreprises : 314 sociétés sur 367 (85.6 %) — 37 échues, 277 absentes.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Périmètre prioritaire de régularisation : 533 clients à risque élevé.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PROFIL DES CLIENTS À RISQUE ÉLEVÉ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3 024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à risque élevé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0.81 % du portefeuille particuliers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367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Entreprises à risque élevé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2.4 % du portefeuille entreprises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7.2 %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Date de revue scoring échue ou absente (PP)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219 clients concernés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85.6 %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Date de revue scoring échue ou absente (PM)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314 sociétés concernées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COMPLÉTUDE ET QUALITÉ COMPARÉES AU PORTEFEUILLE GLOBAL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4114800" cy="1426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81328"/>
                <a:gridCol w="658368"/>
                <a:gridCol w="658368"/>
                <a:gridCol w="658368"/>
                <a:gridCol w="658368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Indicateur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Particuliers global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Entreprises global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Taux de complétude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80 %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Clients intégralement renseignés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91.6 %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96.3 %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26.6 %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30.5 %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Taux de qualité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93.8 %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98.1 %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85.1 %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83.9 %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Date de revue scoring échue ou absente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55.1 %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68.1 %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85.6 %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663440" y="2377440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Anomalies les plus fréquentes sur ce niveau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663440" y="2596896"/>
          <a:ext cx="4114800" cy="12252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75104"/>
                <a:gridCol w="699516"/>
                <a:gridCol w="740664"/>
                <a:gridCol w="69951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global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(scoring)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151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46.7 %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PP à risque élevé dont la date de revu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151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5.0 %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Mineur de plus de 21 ans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7.1 %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126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20.8 %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365760" y="3950208"/>
            <a:ext cx="8412480" cy="877824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3950208"/>
            <a:ext cx="45720" cy="877824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4023360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Exposition du niveau « risque élevé » aux segments sensibles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4261104"/>
            <a:ext cx="81564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Non-résidents : 18 PP · 3 PM.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Comptes en devise étrangère : 29 PP · 11 PM.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Clients PPE classés à risque élevé : 501 sur 501 PPE identifiés.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VI.  SYNTHÈSE ET PLAN D'ACTION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CHANTIERS DE FIABILISATION PROPOSÉS (1/2)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9" cy="36255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6499"/>
                <a:gridCol w="2523744"/>
                <a:gridCol w="1682496"/>
                <a:gridCol w="3028492"/>
                <a:gridCol w="841248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Constat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Volumétrie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Action proposée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Priorité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Clients à risque élevé sans date de revue scoring AML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533 clients (PP + PM)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Campagne de révision périodique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Critique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Revues scoring échues sur l'ensemble du portefeuille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173 775 clients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Plan de rattrapage avec priorisation des clients à risque élevé et des retards de plus de 12 mois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Date de revue scoring absente pour les entreprises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10 131 sociétés (66.3 %)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Initialisation automatique de la date de revue lors du scoring AML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« Résultat net » peu alimenté (entreprises)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11 121 dossiers vides (27 %)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Campagne de fiabilisation des données KYC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 dominante sur Origine du revenu (particuliers)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303 721 dossiers (81.8 %)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Retirer la valeur par défaut du référentiel ou la traiter comme une non-réponse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 dominante sur Origine du revenu (entreprises)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11 353 dossiers (74.3 %)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Retirer la valeur par défaut du référentiel ou la traiter comme une non-réponse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Date de révision KYC (scoring) expirée » (particuliers)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173 513 anomalies (46.7 %)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Campagne de fiabilisation des données KYC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Document d'identité expiré » (particuliers)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77 084 anomalies (20.8 %)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Campagne de fiabilisation des données KYC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Société avec capital sans actionnaire » (entreprises)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9 353 anomalies (61.2 %)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Campagne de fiabilisation des données KYC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CA positif mais résultat vide » (entreprises)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8 681 anomalies (56.8 %)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Campagne de fiabilisation des données KYC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« Capital social » peu alimenté (entreprises)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3 393 dossiers vides (77 %)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Campagne de fiabilisation des données KYC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VI.  SYNTHÈSE ET PLAN D'ACTION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CHANTIERS DE FIABILISATION PROPOSÉS (2/2)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9" cy="14813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6499"/>
                <a:gridCol w="2523744"/>
                <a:gridCol w="1682496"/>
                <a:gridCol w="3028492"/>
                <a:gridCol w="841248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Constat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Volumétrie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Action proposée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Priorité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Non-résidents : complétude et qualité en retrait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2 614 PP · 92 PM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Revue dossier par dossier du segment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Boîte postale jamais alimenté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100 % du portefeuille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Arbitrer : alimenter le champ ou désactiver les règles associées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Boîte postale jamais alimenté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100 % du portefeuille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Arbitrer : alimenter le champ ou désactiver les règles associées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Personne politiquement exposée absent de l'export 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règles associées inévaluables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Ajouter la colonne à l'export ou désactiver les règles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4626864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Calibri"/>
              </a:rPr>
              <a:t>Priorité « Critique » : impact direct sur la conformité LBC/FT. « Élevée » : fiabilité des indicateurs publiés. « Moyenne » : dette de qualité à résorber.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00C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00C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371600"/>
            <a:ext cx="54864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FIN DU DOCUMENT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834640"/>
            <a:ext cx="50292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F0D8"/>
                </a:solidFill>
                <a:latin typeface="Calibri"/>
              </a:rPr>
              <a:t>Audit KYC BOA SN — Conformité BOA Group | Fiabilisation KYC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D4B8"/>
                </a:solidFill>
                <a:latin typeface="Calibri"/>
              </a:rPr>
              <a:t>8 septembre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