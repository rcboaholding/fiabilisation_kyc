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0AD47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dPt>
            <c:idx val="8"/>
            <c:spPr>
              <a:solidFill>
                <a:srgbClr val="70AD47"/>
              </a:solidFill>
            </c:spPr>
          </c:dPt>
          <c:dPt>
            <c:idx val="9"/>
            <c:spPr>
              <a:solidFill>
                <a:srgbClr val="70AD47"/>
              </a:solidFill>
            </c:spPr>
          </c:dPt>
          <c:dPt>
            <c:idx val="10"/>
            <c:spPr>
              <a:solidFill>
                <a:srgbClr val="70AD47"/>
              </a:solidFill>
            </c:spPr>
          </c:dPt>
          <c:cat>
            <c:strRef>
              <c:f>Sheet1!$A$2:$A$12</c:f>
              <c:strCache>
                <c:ptCount val="11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  <c:pt idx="4">
                  <c:v>NIN</c:v>
                </c:pt>
                <c:pt idx="5">
                  <c:v>Code agent économique</c:v>
                </c:pt>
                <c:pt idx="6">
                  <c:v>Date de naissance</c:v>
                </c:pt>
                <c:pt idx="7">
                  <c:v>Adresse</c:v>
                </c:pt>
                <c:pt idx="8">
                  <c:v>Date de validité CIN</c:v>
                </c:pt>
                <c:pt idx="9">
                  <c:v>Origine du revenu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  <c:pt idx="8">
                  <c:v>99</c:v>
                </c:pt>
                <c:pt idx="9">
                  <c:v>99</c:v>
                </c:pt>
                <c:pt idx="10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Origine du revenu</c:v>
                </c:pt>
                <c:pt idx="6">
                  <c:v>Secteur d'activité</c:v>
                </c:pt>
                <c:pt idx="7">
                  <c:v>Code agent économique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77</c:v>
                </c:pt>
                <c:pt idx="2">
                  <c:v>86</c:v>
                </c:pt>
                <c:pt idx="3">
                  <c:v>89</c:v>
                </c:pt>
                <c:pt idx="4">
                  <c:v>94</c:v>
                </c:pt>
                <c:pt idx="5">
                  <c:v>99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F59E0B"/>
              </a:solidFill>
            </c:spPr>
          </c:dPt>
          <c:dPt>
            <c:idx val="7"/>
            <c:spPr>
              <a:solidFill>
                <a:srgbClr val="F59E0B"/>
              </a:solidFill>
            </c:spPr>
          </c:dPt>
          <c:dPt>
            <c:idx val="8"/>
            <c:spPr>
              <a:solidFill>
                <a:srgbClr val="F59E0B"/>
              </a:solidFill>
            </c:spPr>
          </c:dPt>
          <c:dPt>
            <c:idx val="9"/>
            <c:spPr>
              <a:solidFill>
                <a:srgbClr val="F59E0B"/>
              </a:solidFill>
            </c:spPr>
          </c:dPt>
          <c:dPt>
            <c:idx val="10"/>
            <c:spPr>
              <a:solidFill>
                <a:srgbClr val="F59E0B"/>
              </a:solidFill>
            </c:spPr>
          </c:dPt>
          <c:dPt>
            <c:idx val="11"/>
            <c:spPr>
              <a:solidFill>
                <a:srgbClr val="F59E0B"/>
              </a:solidFill>
            </c:spPr>
          </c:dPt>
          <c:cat>
            <c:strRef>
              <c:f>Sheet1!$A$2:$A$13</c:f>
              <c:strCache>
                <c:ptCount val="12"/>
                <c:pt idx="0">
                  <c:v>ELITE</c:v>
                </c:pt>
                <c:pt idx="1">
                  <c:v>PARCELLES ASSA</c:v>
                </c:pt>
                <c:pt idx="2">
                  <c:v>CENTRALE DAKAR</c:v>
                </c:pt>
                <c:pt idx="3">
                  <c:v>INDEPENDANCE</c:v>
                </c:pt>
                <c:pt idx="4">
                  <c:v>CAF ZONE INDUS</c:v>
                </c:pt>
                <c:pt idx="5">
                  <c:v>MERMOZ</c:v>
                </c:pt>
                <c:pt idx="6">
                  <c:v>GRAND YOFF</c:v>
                </c:pt>
                <c:pt idx="7">
                  <c:v>KAOLACK</c:v>
                </c:pt>
                <c:pt idx="8">
                  <c:v>SATELLITE HLM </c:v>
                </c:pt>
                <c:pt idx="9">
                  <c:v>SATELLITE PIKI</c:v>
                </c:pt>
                <c:pt idx="10">
                  <c:v>MALICK SY</c:v>
                </c:pt>
                <c:pt idx="11">
                  <c:v>YOFF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73</c:v>
                </c:pt>
                <c:pt idx="2">
                  <c:v>75</c:v>
                </c:pt>
                <c:pt idx="3">
                  <c:v>75</c:v>
                </c:pt>
                <c:pt idx="4">
                  <c:v>76</c:v>
                </c:pt>
                <c:pt idx="5">
                  <c:v>77</c:v>
                </c:pt>
                <c:pt idx="6">
                  <c:v>78</c:v>
                </c:pt>
                <c:pt idx="7">
                  <c:v>78</c:v>
                </c:pt>
                <c:pt idx="8">
                  <c:v>79</c:v>
                </c:pt>
                <c:pt idx="9">
                  <c:v>79</c:v>
                </c:pt>
                <c:pt idx="10">
                  <c:v>80</c:v>
                </c:pt>
                <c:pt idx="11">
                  <c:v>81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Document d'identité </c:v>
                </c:pt>
                <c:pt idx="1">
                  <c:v>Mineur de plus de 21</c:v>
                </c:pt>
                <c:pt idx="2">
                  <c:v>Numéro d'identificat</c:v>
                </c:pt>
                <c:pt idx="3">
                  <c:v>Format téléphone inv</c:v>
                </c:pt>
                <c:pt idx="4">
                  <c:v>Client PP non-réside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76980</c:v>
                </c:pt>
                <c:pt idx="1">
                  <c:v>26259</c:v>
                </c:pt>
                <c:pt idx="2">
                  <c:v>10472</c:v>
                </c:pt>
                <c:pt idx="3">
                  <c:v>8971</c:v>
                </c:pt>
                <c:pt idx="4">
                  <c:v>2614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D32F2F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Société avec capital</c:v>
                </c:pt>
                <c:pt idx="1">
                  <c:v>CA positif mais résu</c:v>
                </c:pt>
                <c:pt idx="2">
                  <c:v>RCS renseigné mais s</c:v>
                </c:pt>
                <c:pt idx="3">
                  <c:v>Numéro RCS trop cour</c:v>
                </c:pt>
                <c:pt idx="4">
                  <c:v>Capital social nul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9353</c:v>
                </c:pt>
                <c:pt idx="1">
                  <c:v>8681</c:v>
                </c:pt>
                <c:pt idx="2">
                  <c:v>3736</c:v>
                </c:pt>
                <c:pt idx="3">
                  <c:v>1881</c:v>
                </c:pt>
                <c:pt idx="4">
                  <c:v>1855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206</c:v>
                </c:pt>
                <c:pt idx="2">
                  <c:v>8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459</c:v>
                </c:pt>
                <c:pt idx="1">
                  <c:v>148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98</c:v>
                </c:pt>
                <c:pt idx="2">
                  <c:v>98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75</c:v>
                </c:pt>
                <c:pt idx="2">
                  <c:v>76</c:v>
                </c:pt>
                <c:pt idx="3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48</c:v>
                </c:pt>
                <c:pt idx="1">
                  <c:v>93</c:v>
                </c:pt>
                <c:pt idx="2">
                  <c:v>97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77</c:v>
                </c:pt>
                <c:pt idx="2">
                  <c:v>86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72</c:v>
                </c:pt>
                <c:pt idx="2">
                  <c:v>83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92</c:v>
                </c:pt>
                <c:pt idx="2">
                  <c:v>88</c:v>
                </c:pt>
                <c:pt idx="3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365822</c:v>
                </c:pt>
                <c:pt idx="2">
                  <c:v>2386</c:v>
                </c:pt>
                <c:pt idx="3">
                  <c:v>3024</c:v>
                </c:pt>
                <c:pt idx="4">
                  <c:v>48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12705</c:v>
                </c:pt>
                <c:pt idx="2">
                  <c:v>2134</c:v>
                </c:pt>
                <c:pt idx="3">
                  <c:v>367</c:v>
                </c:pt>
                <c:pt idx="4">
                  <c:v>6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Sheet1!$A$2:$A$3</c:f>
              <c:strCache>
                <c:ptCount val="2"/>
                <c:pt idx="0">
                  <c:v>Non renseignée</c:v>
                </c:pt>
                <c:pt idx="1">
                  <c:v>Format invalide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31020</c:v>
                </c:pt>
                <c:pt idx="1">
                  <c:v>340274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Sheet1!$A$2:$A$3</c:f>
              <c:strCache>
                <c:ptCount val="2"/>
                <c:pt idx="0">
                  <c:v>Non renseignée</c:v>
                </c:pt>
                <c:pt idx="1">
                  <c:v>Format invalide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10131</c:v>
                </c:pt>
                <c:pt idx="1">
                  <c:v>5141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66751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AUDIT QUALITÉ ET COMPLÉTUDE DES DONNÉES KYC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F0D8"/>
                </a:solidFill>
                <a:latin typeface="Calibri"/>
              </a:rPr>
              <a:t>BOA SN — Sénégal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F5E4"/>
                </a:solidFill>
                <a:latin typeface="Calibri"/>
              </a:rPr>
              <a:t>Stock au 3 septembre 2026  |  371 294 particuliers  |  15 272 entreprises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0D4B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9A56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Périmètre et méthodologie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00984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00984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58184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41064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67912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67912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25112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0799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3484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3484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Synthèse et plan d'action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BASE DE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371 294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354 057 identifiants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15 272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15 272 identifiants uniques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de complétude suivis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champs PP · 8 champs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Règles qualité applicables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sur 25 règles du référentiel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MÉTHODES DE CALCUL APPLIQUÉES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— Script_V3.r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floor(100 − vides / effectif × 100)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global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× (1 − vides / (champs × effectif)))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Valeur « vide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chaîne vide après nettoyage des espaces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Appréciation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Faible &lt; 80 % · Moyen 80–99 % · Bon = 100 %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— plateforme KYC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Référentiel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25 règles, 25 applicables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Combinaison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forme normale disjonctive (OU ouvre un groupe)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Σ conformes / Σ évaluations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référence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septembre 2026 (opérateurs expired / age_gt)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Réserves méthodologiques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Les exports pp/pm_STOCK sont produits par Script_V3.r : clients déjà regroupés par identifiant et clients non fiabilisables (code OI) déjà exclus.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La devise locale ayant été vidée par le script R, tout compte à devise renseignée est traité comme compte en devise étrangère.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Champs absents de l'export entreprises : PPE — les règles associées sont inévaluables.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SYNTHÈSE EXÉCUTIVE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91.6 % de dossiers complets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26.6 % de dossiers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97.4 %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13 règles · 125 568 anomalies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· 27 260 anomalies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Complétude affichée et information exploitable divergent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Origine du revenu : 81.8 % des particuliers portent « Non communiquée », comptée comme renseignée.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Côté entreprises, la proportion atteint 74.3 %.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Le champ le plus faible reste Salaire (93 %).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7168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Le bloc financier entreprises est peu alimenté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Résultat net : 27 % de complétude (11 121 dossiers vides).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Capital social 77 % · Chiffre d'affaires 86 % · Numéro de registre de commerce 89 %.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Seuls 26.6 % des dossiers entreprises sont complets.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08576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La révision KYC n'est pas maîtrisée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100.0 % des particuliers sont sans révision opposable (371 294 clients).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100.0 % côté entreprises (15 272 sociétés).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3 024 clients à risque élevé sont concernés, soit 100.0 % de ce niveau.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9983" y="1993392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Les segments sensibles concentrent les écarts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Non-résidents : complétude 94 % et qualité 86.1 % (global 99 % / 97.4 %).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489 entreprises en devise étrangère (3.2 % du portefeuille).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sensible consolidé : 3 715 particuliers.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Complétude calculée selon Script_V3.r ; qualité selon le moteur de règles de la plateforme KYC restreint aux règles applicables à la filiale.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91.6 %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340 268 sur 371 294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11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37 556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24 670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Profession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5 332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5 856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naissance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naissance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Salaire (93 %, 24 670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91.6 % des dossiers ne présentent aucun champ 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26.6 %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4 059 sur 15 272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6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19 074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1581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11 121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3 393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89 %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1 618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3867911"/>
            <a:ext cx="3291840" cy="9601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3867911"/>
            <a:ext cx="4572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3941063"/>
            <a:ext cx="3035808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Résultat net (27 %, 11 121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Champs à 100 % : Secteur d'activité, Code agent économique.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26.6 % des dossiers ne présentent aucun champ 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DISPERSION DU TAUX DE COMPLÉTUDE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9 agences les plus en retrait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1 816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18 011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ZI PARTICULIER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6 512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LAMINE GUEYE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MERMOZ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11 588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9 agences les plus en retrait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1 184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455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MERMOZ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02001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KAOLACK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agences les plus faibles (effectif ≥ 100 clients)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3767328"/>
          <a:ext cx="8412480" cy="10607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Particuliers : de 87 % (CAF ZONE INDUSTRIELLE) à 100 %.  Entreprises : de 62 % à 99 %, soit 37 points d'écart.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APPARENTE ET INFORMATION RÉELLEMENT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8412480" cy="51206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45720" cy="51206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88720"/>
            <a:ext cx="8156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•  Le taux de complétude mesure la présence d'une valeur, pas sa portée informative : les valeurs par défaut et les champs jamais alimentés élèvent mécaniquement les taux affichés.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VALEURS PAR DÉFAUT COMPTÉES COMME RENSEIGNÉES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39696"/>
          <a:ext cx="8412478" cy="749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0745"/>
                <a:gridCol w="1261872"/>
                <a:gridCol w="1850745"/>
                <a:gridCol w="1093622"/>
                <a:gridCol w="1261872"/>
                <a:gridCol w="109362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Valeur dominante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affiché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303 721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81.8 %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11 353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74.3 %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035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CHAMPS PRÉSENTS DANS L'EXPORT MAIS NON ALIMENTÉS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419856"/>
          <a:ext cx="8412478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7244"/>
                <a:gridCol w="1345996"/>
                <a:gridCol w="1682496"/>
                <a:gridCol w="319674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remplissage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Conséquence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délivrance CIN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97.4 %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13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125 568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27 260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/>
                <a:gridCol w="1261872"/>
                <a:gridCol w="1177747"/>
                <a:gridCol w="1261872"/>
                <a:gridCol w="117774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76 980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20.7 %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26 259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10 472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9 353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61.2 %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8 971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8 681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56.8 %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65760" y="4059936"/>
            <a:ext cx="8412480" cy="7680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59936"/>
            <a:ext cx="45720" cy="768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133088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Précautions de lecture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70832"/>
            <a:ext cx="81564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 taux agrégé dilue les écarts : une règle défaillante sur 40 % du portefeuille est compensée par les règles sans anomalie.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inévaluables faute de champ dans l'export : « PPE non classe à risque élevé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30678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76 980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126 (4.2 %)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79.3 %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26 259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135 (4.5 %)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10 472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8 971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 (0.9 %)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 avec risque 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126 (4.2 %)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Employé de banque sans 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déclarée sans risque 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 à risque élevé dont la date de revue du scoring AML a été dépassée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Document d'identité expiré » : 76 980 clients, soit 20.7 %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Mineur de plus de 21 ans » : 26 259 clients, soit 7.1 %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Numéro d'identification nationale invalide » : 10 472 clients, soit 2.8 % du portefeuille.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9 353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61.2 %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211 (57.5 %)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8 681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149 (40.6 %)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3 736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24.5 %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88 (24.0 %)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75.5 %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1 881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103 (28.1 %)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1 855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47 (12.8 %)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87.9 %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1 395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62 (16.9 %)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faisant du chiffre d'affaires sans mandataire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(2.5 %)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(0.8 %)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Résultat sans CA renseigné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PM à risque élevé dont la date de revue du scoring AML a été dépassée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sans domaine d'activité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non classe à risque élevé (inévaluable)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Société avec capital sans actionnaire » : 9 353 clients, soit 61.2 %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CA positif mais résultat vide » : 8 681 clients, soit 56.8 %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RCS renseigné mais sans numéro fiscal » : 3 736 clients, soit 24.5 %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Inévaluable faute de champ : « PPE non classe à risque élevé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501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PPE (PPE = 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0.13 %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1 121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632 PP · 489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2 706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non-résidents (RESID =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2 614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4 285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union des segments, sans double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93776"/>
                <a:gridCol w="452628"/>
                <a:gridCol w="781812"/>
                <a:gridCol w="493776"/>
                <a:gridCol w="6583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501 (100.0 %)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 (4.6 %)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 (2.2 %)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(3.3 %)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3 715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542 (14.6 %)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 (2.5 %)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895344"/>
            <a:ext cx="8412480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45720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96849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Croisements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06240"/>
            <a:ext cx="815644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 et devise étrangère : 26 PP · 11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non-résident : 18 PP · 3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devise étrangère : 29 PP · 11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non-résident : 5 PP · — PM (champ absent).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devise étrangère : 1 PP · — PM (champ absent).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371 294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15 272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-8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-3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371 294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15 272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+1.2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-6.0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83.7 %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-1.4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86.1 %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-11.3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68.7 %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-16.4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Non-résidents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68.0 %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 avec ri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8"/>
            <a:ext cx="81564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particuliers : qualité 86.1 % contre 97.4 % en global.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Entreprises en devise étrangère : complétude 79 % et qualité 83.7 %.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particuliers : 501 clients, dont 0 sans classement en risque élevé.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2.4 %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365 822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98.5 %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48 PP · 6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/>
                <a:gridCol w="469087"/>
                <a:gridCol w="443026"/>
                <a:gridCol w="469087"/>
                <a:gridCol w="44302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365 822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12 705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2 386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3 024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98.5 % des particuliers relèvent d'un seul niveau : la segmentation discrimine peu.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54 clients restent sans notation de risque.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RÉVISION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100.0 %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sans révision opposable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371 294 clients : échue, absente ou invalide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100.0 %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sans révision opposable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15 272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Révisions particuliers échues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0.0 %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10 131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DATREV entreprises absentes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66.3 %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révision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9280" y="2194560"/>
          <a:ext cx="3108958" cy="685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/>
                <a:gridCol w="528523"/>
                <a:gridCol w="497433"/>
                <a:gridCol w="528523"/>
                <a:gridCol w="497433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31 020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10 131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340 274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91.6 %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5 141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33.7 %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60" y="4059936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révisions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261104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/>
                <a:gridCol w="921715"/>
                <a:gridCol w="921715"/>
                <a:gridCol w="921715"/>
                <a:gridCol w="921715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état de la révision par niveau de risque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365 822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30 212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365 822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2 386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2 386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révision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2852928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12 705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7 916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12 705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1 931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169663"/>
            <a:ext cx="8412480" cy="65836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45720" cy="65836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24281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Zone critique — risque élevé sans révision opposable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480559"/>
            <a:ext cx="8156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Particuliers : 3 024 clients à risque élevé sur 3 024 (100.0 %) sont sans révision opposable — 0 échues, 68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Entreprises : 367 sociétés sur 367 (100.0 %) — 0 échues, 277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prioritaire de régularisation : 3 391 clients à risque élevé.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PROFIL DES CLIENTS À RISQUE ÉLEVÉ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0.81 %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2.4 % du portefeuille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100.0 %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3 024 clients concernés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100.0 %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367 sociétés concernées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ET QUALITÉ COMPARÉES AU PORTEFEUILLE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53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9032"/>
                <a:gridCol w="699516"/>
                <a:gridCol w="699516"/>
                <a:gridCol w="658368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Particuliers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Entreprises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Dossiers intégralement complets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91.6 %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96.3 %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26.6 %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85.1 %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84.7 %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Anomalies les plus fréquentes sur ce niveau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63440" y="2596896"/>
          <a:ext cx="41148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5104"/>
                <a:gridCol w="699516"/>
                <a:gridCol w="740664"/>
                <a:gridCol w="69951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 avec risque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4.2 %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Exposition du niveau « risque élevé » aux segments sensibles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: 18 PP · 3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Comptes en devise étrangère : 29 PP · 11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Clients PPE classés à risque élevé : 501 sur 501 PPE identifiés.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à risque élevé sans révision KYC opposable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3 391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révision ciblée pilotée par le module Rappels Scoring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absente côté 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10 131 sociétés (66.3 %)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Initialiser DATREV à partir de la date d'entrée en relation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Résultat net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11 121 dossiers vides (27 %)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303 721 dossiers (81.8 %)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11 353 dossiers (74.3 %)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Document d'identité expiré »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76 980 anomalies (20.7 %)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Société avec capital sans actionnaire »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9 353 anomalies (61.2 %)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CA positif mais résultat vide »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8 681 anomalies (56.8 %)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Capital social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3 393 dossiers vides (77 %)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Non-résidents : complétude et qualité en retrait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2 614 PP · 92 PM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 dossier par dossier du segment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868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Personne politiquement exposée absent de l'export 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associées inévaluables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Ajouter la colonne à l'export ou désactiver les règles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Priorité « Critique » : impact direct sur la conformité LBC/FT. « Élevée » : fiabilité des indicateurs publiés. « Moyenne » : dette de qualité à résorber.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F0D8"/>
                </a:solidFill>
                <a:latin typeface="Calibri"/>
              </a:rPr>
              <a:t>Audit KYC BOA SN — Conformité BOA Group | Fiabilisation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D4B8"/>
                </a:solidFill>
                <a:latin typeface="Calibri"/>
              </a:rPr>
              <a:t>3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